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99" r:id="rId11"/>
    <p:sldId id="300" r:id="rId12"/>
    <p:sldId id="301" r:id="rId13"/>
    <p:sldId id="302" r:id="rId14"/>
    <p:sldId id="303" r:id="rId15"/>
    <p:sldId id="263" r:id="rId16"/>
    <p:sldId id="264" r:id="rId17"/>
    <p:sldId id="265" r:id="rId18"/>
    <p:sldId id="266" r:id="rId19"/>
    <p:sldId id="298" r:id="rId20"/>
  </p:sldIdLst>
  <p:sldSz cx="9144000" cy="5143500" type="screen16x9"/>
  <p:notesSz cx="6858000" cy="9144000"/>
  <p:embeddedFontLst>
    <p:embeddedFont>
      <p:font typeface="Roboto Medium" panose="020B0604020202020204" charset="0"/>
      <p:regular r:id="rId22"/>
      <p:bold r:id="rId23"/>
      <p:italic r:id="rId24"/>
      <p:boldItalic r:id="rId25"/>
    </p:embeddedFont>
    <p:embeddedFont>
      <p:font typeface="Roboto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955FCD-5536-4651-B248-C2593CBFB820}">
  <a:tblStyle styleId="{43955FCD-5536-4651-B248-C2593CBFB8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30" autoAdjust="0"/>
  </p:normalViewPr>
  <p:slideViewPr>
    <p:cSldViewPr snapToGrid="0">
      <p:cViewPr varScale="1">
        <p:scale>
          <a:sx n="201" d="100"/>
          <a:sy n="201" d="100"/>
        </p:scale>
        <p:origin x="576" y="168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6555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0468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6195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8206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5527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8210400" cy="1495325"/>
        </p:xfrm>
        <a:graphic>
          <a:graphicData uri="http://schemas.openxmlformats.org/drawingml/2006/table">
            <a:tbl>
              <a:tblPr>
                <a:noFill/>
                <a:tableStyleId>{43955FCD-5536-4651-B248-C2593CBFB820}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7961150" cy="2807725"/>
        </p:xfrm>
        <a:graphic>
          <a:graphicData uri="http://schemas.openxmlformats.org/drawingml/2006/table">
            <a:tbl>
              <a:tblPr>
                <a:noFill/>
                <a:tableStyleId>{43955FCD-5536-4651-B248-C2593CBFB820}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ru-RU" sz="40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Сетевая </a:t>
            </a: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фабрика на основе VXLAN </a:t>
            </a:r>
            <a:r>
              <a:rPr lang="ru-RU" sz="40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EVPN.</a:t>
            </a:r>
            <a:endParaRPr lang="ru-RU" sz="40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90000"/>
              </a:lnSpc>
            </a:pPr>
            <a:endParaRPr lang="ru-RU" sz="40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 smtClean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Дизайн сетей ЦОД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37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064134" y="2006222"/>
            <a:ext cx="1686404" cy="1709399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Владимир Печерский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959816" y="2860921"/>
            <a:ext cx="31932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 smtClean="0">
                <a:latin typeface="Roboto Medium"/>
                <a:ea typeface="Roboto Medium"/>
                <a:cs typeface="Roboto Medium"/>
                <a:sym typeface="Roboto Medium"/>
              </a:rPr>
              <a:t>Работаю в системным администратором в гос. компании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2469799853"/>
              </p:ext>
            </p:extLst>
          </p:nvPr>
        </p:nvGraphicFramePr>
        <p:xfrm>
          <a:off x="952500" y="2382125"/>
          <a:ext cx="7239000" cy="2421486"/>
        </p:xfrm>
        <a:graphic>
          <a:graphicData uri="http://schemas.openxmlformats.org/drawingml/2006/table">
            <a:tbl>
              <a:tblPr>
                <a:noFill/>
                <a:tableStyleId>{43955FCD-5536-4651-B248-C2593CBFB820}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Спроектировать топологию </a:t>
                      </a:r>
                      <a:r>
                        <a:rPr lang="en-US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CLOS.</a:t>
                      </a:r>
                      <a:endParaRPr lang="ru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</a:t>
                      </a:r>
                      <a:r>
                        <a:rPr lang="ru-RU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Underlay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 </a:t>
                      </a:r>
                      <a:r>
                        <a:rPr lang="ru-RU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eBGP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с BFD и MD5.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</a:t>
                      </a:r>
                      <a:r>
                        <a:rPr lang="ru-RU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Overlay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L2 VNI и L3 VNI.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ESI-LAG как функциональный аналог </a:t>
                      </a:r>
                      <a:r>
                        <a:rPr lang="ru-RU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vPC</a:t>
                      </a:r>
                      <a:r>
                        <a:rPr lang="ru-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4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Проверить отказоустойчивость на всех уровнях.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dirty="0"/>
              <a:t>спроектировать сетевую фабрику ЦОД на основе </a:t>
            </a:r>
            <a:r>
              <a:rPr lang="ru-RU" dirty="0" err="1"/>
              <a:t>Overlay</a:t>
            </a:r>
            <a:r>
              <a:rPr lang="ru-RU" dirty="0"/>
              <a:t>-технологии </a:t>
            </a:r>
            <a:r>
              <a:rPr lang="ru-RU" b="1" dirty="0"/>
              <a:t>VXLAN EVPN</a:t>
            </a:r>
            <a:r>
              <a:rPr lang="ru-RU" dirty="0"/>
              <a:t>.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2006692660"/>
              </p:ext>
            </p:extLst>
          </p:nvPr>
        </p:nvGraphicFramePr>
        <p:xfrm>
          <a:off x="603412" y="1271293"/>
          <a:ext cx="7263174" cy="3893670"/>
        </p:xfrm>
        <a:graphic>
          <a:graphicData uri="http://schemas.openxmlformats.org/drawingml/2006/table">
            <a:tbl>
              <a:tblPr>
                <a:noFill/>
                <a:tableStyleId>{43955FCD-5536-4651-B248-C2593CBFB820}</a:tableStyleId>
              </a:tblPr>
              <a:tblGrid>
                <a:gridCol w="491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2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0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VXLAN EVPN — для </a:t>
                      </a:r>
                      <a:r>
                        <a:rPr lang="ru-RU" sz="14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Overlay</a:t>
                      </a: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-сети и L2/L3-связности.</a:t>
                      </a:r>
                      <a:endParaRPr sz="14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0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eBGP</a:t>
                      </a: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— для </a:t>
                      </a:r>
                      <a:r>
                        <a:rPr lang="ru-RU" sz="14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Underlay</a:t>
                      </a: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он даёт ECMP и масштабируемость.</a:t>
                      </a:r>
                      <a:endParaRPr sz="14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0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BFD и MD5 — для быстрого обнаружения сбоев и безопасности.</a:t>
                      </a:r>
                      <a:endParaRPr sz="14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ESI-LAG — для </a:t>
                      </a:r>
                      <a:r>
                        <a:rPr lang="ru-RU" sz="14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multi-homing</a:t>
                      </a: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клиентов, это стандартный аналог </a:t>
                      </a:r>
                      <a:r>
                        <a:rPr lang="ru-RU" sz="14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vPC</a:t>
                      </a: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EVPN Type-2, 3 и 5 — для обмена MAC/IP и IP-префиксами.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Route</a:t>
                      </a: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4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Leaking</a:t>
                      </a: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— как альтернатива маршрутизации через </a:t>
                      </a:r>
                      <a:r>
                        <a:rPr lang="ru-RU" sz="14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BorderLeaf</a:t>
                      </a: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smtClean="0">
                          <a:solidFill>
                            <a:srgbClr val="00B0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Моё впечатление</a:t>
                      </a: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VXLAN EVPN — это стандарт современных ЦОД. А ESI-LAG гибче и стандартнее, чем классический </a:t>
                      </a:r>
                      <a:r>
                        <a:rPr lang="ru-RU" sz="14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vPC</a:t>
                      </a: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от </a:t>
                      </a:r>
                      <a:r>
                        <a:rPr lang="ru-RU" sz="14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Cisco</a:t>
                      </a: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4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1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 idx="4294967295"/>
          </p:nvPr>
        </p:nvSpPr>
        <p:spPr>
          <a:xfrm>
            <a:off x="0" y="317500"/>
            <a:ext cx="4424363" cy="2155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8163" y="1085284"/>
            <a:ext cx="4572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README.md — </a:t>
            </a:r>
            <a:r>
              <a:rPr lang="ru-RU" dirty="0"/>
              <a:t>полная проектная документация.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PRESENTATION.md </a:t>
            </a:r>
            <a:r>
              <a:rPr lang="en-US" dirty="0"/>
              <a:t>— </a:t>
            </a:r>
            <a:r>
              <a:rPr lang="ru-RU" dirty="0"/>
              <a:t>эта презентация.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Схема </a:t>
            </a:r>
            <a:r>
              <a:rPr lang="ru-RU" dirty="0"/>
              <a:t>фабрики — в формате </a:t>
            </a:r>
            <a:r>
              <a:rPr lang="en-US" dirty="0"/>
              <a:t>PNG.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Конфигурации </a:t>
            </a:r>
            <a:r>
              <a:rPr lang="ru-RU" dirty="0"/>
              <a:t>— для восьми устройств.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Результаты </a:t>
            </a:r>
            <a:r>
              <a:rPr lang="ru-RU" dirty="0"/>
              <a:t>проверок — </a:t>
            </a:r>
            <a:r>
              <a:rPr lang="en-US" dirty="0"/>
              <a:t>ping, traceroute, BGP EVPN.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Всё </a:t>
            </a:r>
            <a:r>
              <a:rPr lang="ru-RU" dirty="0"/>
              <a:t>это доступно в моём </a:t>
            </a:r>
            <a:r>
              <a:rPr lang="ru-RU" dirty="0" err="1"/>
              <a:t>репозитории</a:t>
            </a:r>
            <a:r>
              <a:rPr lang="ru-RU" dirty="0"/>
              <a:t> на </a:t>
            </a:r>
            <a:r>
              <a:rPr lang="en-US" dirty="0"/>
              <a:t>GitHub. 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800100" y="2685722"/>
            <a:ext cx="5276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https://github.com/vladimirpecerskij/data_center_network_design</a:t>
            </a: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71500" y="155100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 smtClean="0"/>
              <a:t>Что получилось</a:t>
            </a:r>
            <a:endParaRPr sz="3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38212" y="2128272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Вот архитектура фабрики: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smtClean="0"/>
              <a:t>Super-Spine</a:t>
            </a:r>
            <a:r>
              <a:rPr lang="en-US" dirty="0" smtClean="0"/>
              <a:t> </a:t>
            </a:r>
            <a:r>
              <a:rPr lang="en-US" dirty="0"/>
              <a:t>— Cisco Nexus 9000.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dirty="0" smtClean="0"/>
              <a:t>Три </a:t>
            </a:r>
            <a:r>
              <a:rPr lang="en-US" i="1" dirty="0"/>
              <a:t>Spine </a:t>
            </a:r>
            <a:r>
              <a:rPr lang="en-US" dirty="0"/>
              <a:t>— Arista </a:t>
            </a:r>
            <a:r>
              <a:rPr lang="en-US" dirty="0" err="1"/>
              <a:t>vEOS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dirty="0"/>
              <a:t>Три </a:t>
            </a:r>
            <a:r>
              <a:rPr lang="en-US" i="1" dirty="0"/>
              <a:t>Leaf </a:t>
            </a:r>
            <a:r>
              <a:rPr lang="en-US" dirty="0"/>
              <a:t>— Arista </a:t>
            </a:r>
            <a:r>
              <a:rPr lang="en-US" dirty="0" err="1"/>
              <a:t>vEOS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BorderLeaf-01</a:t>
            </a:r>
            <a:r>
              <a:rPr lang="en-US" dirty="0"/>
              <a:t> — </a:t>
            </a:r>
            <a:r>
              <a:rPr lang="ru-RU" dirty="0"/>
              <a:t>для выхода во внешнюю сеть.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dirty="0"/>
              <a:t>Три клиента </a:t>
            </a:r>
            <a:r>
              <a:rPr lang="ru-RU" dirty="0"/>
              <a:t>— </a:t>
            </a:r>
            <a:r>
              <a:rPr lang="en-US" dirty="0"/>
              <a:t>Linux VM, </a:t>
            </a:r>
            <a:r>
              <a:rPr lang="ru-RU" dirty="0"/>
              <a:t>каждый подключён к двум </a:t>
            </a:r>
            <a:r>
              <a:rPr lang="en-US" dirty="0"/>
              <a:t>Leaf </a:t>
            </a:r>
            <a:r>
              <a:rPr lang="ru-RU" dirty="0"/>
              <a:t>через </a:t>
            </a:r>
            <a:r>
              <a:rPr lang="en-US" dirty="0"/>
              <a:t>ESI-LAG.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600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71500" y="155100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 smtClean="0"/>
              <a:t>Что получилось</a:t>
            </a:r>
            <a:endParaRPr sz="3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38212" y="2128272"/>
            <a:ext cx="4572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Фабрика состоит из двух уровней.</a:t>
            </a:r>
          </a:p>
          <a:p>
            <a:r>
              <a:rPr lang="en-US" b="1" dirty="0"/>
              <a:t>Underlay</a:t>
            </a:r>
            <a:r>
              <a:rPr lang="en-US" dirty="0"/>
              <a:t> — </a:t>
            </a:r>
            <a:r>
              <a:rPr lang="ru-RU" dirty="0"/>
              <a:t>это </a:t>
            </a:r>
            <a:r>
              <a:rPr lang="en-US" dirty="0" err="1"/>
              <a:t>eBGP</a:t>
            </a:r>
            <a:r>
              <a:rPr lang="en-US" dirty="0"/>
              <a:t> </a:t>
            </a:r>
            <a:r>
              <a:rPr lang="ru-RU" dirty="0"/>
              <a:t>с </a:t>
            </a:r>
            <a:r>
              <a:rPr lang="en-US" dirty="0"/>
              <a:t>BFD, MD5 </a:t>
            </a:r>
            <a:r>
              <a:rPr lang="ru-RU" dirty="0"/>
              <a:t>и </a:t>
            </a:r>
            <a:r>
              <a:rPr lang="en-US" dirty="0"/>
              <a:t>ECMP. </a:t>
            </a:r>
            <a:r>
              <a:rPr lang="ru-RU" dirty="0"/>
              <a:t>Он обеспечивает </a:t>
            </a:r>
            <a:r>
              <a:rPr lang="en-US" dirty="0"/>
              <a:t>IP-</a:t>
            </a:r>
            <a:r>
              <a:rPr lang="ru-RU" dirty="0"/>
              <a:t>связность между всеми </a:t>
            </a:r>
            <a:r>
              <a:rPr lang="en-US" dirty="0"/>
              <a:t>VTEP.</a:t>
            </a:r>
          </a:p>
          <a:p>
            <a:r>
              <a:rPr lang="en-US" b="1" dirty="0"/>
              <a:t>Overlay</a:t>
            </a:r>
            <a:r>
              <a:rPr lang="en-US" dirty="0"/>
              <a:t> — </a:t>
            </a:r>
            <a:r>
              <a:rPr lang="ru-RU" dirty="0"/>
              <a:t>это </a:t>
            </a:r>
            <a:r>
              <a:rPr lang="en-US" dirty="0"/>
              <a:t>VXLAN EVPN. </a:t>
            </a:r>
            <a:r>
              <a:rPr lang="ru-RU" dirty="0"/>
              <a:t>В нём:</a:t>
            </a:r>
          </a:p>
          <a:p>
            <a:r>
              <a:rPr lang="ru-RU" dirty="0"/>
              <a:t>Три </a:t>
            </a:r>
            <a:r>
              <a:rPr lang="en-US" dirty="0"/>
              <a:t>L2 VNI: 10100, 10200, 10300 — </a:t>
            </a:r>
            <a:r>
              <a:rPr lang="ru-RU" dirty="0"/>
              <a:t>для каждого клиента.</a:t>
            </a:r>
          </a:p>
          <a:p>
            <a:r>
              <a:rPr lang="ru-RU" dirty="0"/>
              <a:t>Четыре </a:t>
            </a:r>
            <a:r>
              <a:rPr lang="en-US" dirty="0"/>
              <a:t>L3 VNI: 50001, 50002, 50003, 50099 — </a:t>
            </a:r>
            <a:r>
              <a:rPr lang="ru-RU" dirty="0"/>
              <a:t>для </a:t>
            </a:r>
            <a:r>
              <a:rPr lang="en-US" dirty="0"/>
              <a:t>VRF.</a:t>
            </a:r>
          </a:p>
          <a:p>
            <a:r>
              <a:rPr lang="en-US" dirty="0"/>
              <a:t>EVPN Type-2 </a:t>
            </a:r>
            <a:r>
              <a:rPr lang="ru-RU" dirty="0"/>
              <a:t>для </a:t>
            </a:r>
            <a:r>
              <a:rPr lang="en-US" dirty="0"/>
              <a:t>MAC/IP, Type-3 </a:t>
            </a:r>
            <a:r>
              <a:rPr lang="ru-RU" dirty="0"/>
              <a:t>для </a:t>
            </a:r>
            <a:r>
              <a:rPr lang="en-US" dirty="0"/>
              <a:t>BUM-</a:t>
            </a:r>
            <a:r>
              <a:rPr lang="ru-RU" dirty="0"/>
              <a:t>трафика, </a:t>
            </a:r>
            <a:r>
              <a:rPr lang="en-US" dirty="0"/>
              <a:t>Type-5 </a:t>
            </a:r>
            <a:r>
              <a:rPr lang="ru-RU" dirty="0"/>
              <a:t>для </a:t>
            </a:r>
            <a:r>
              <a:rPr lang="en-US" dirty="0"/>
              <a:t>IP-</a:t>
            </a:r>
            <a:r>
              <a:rPr lang="ru-RU" dirty="0"/>
              <a:t>префиксов.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535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71500" y="155100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 smtClean="0"/>
              <a:t>Что получилось</a:t>
            </a:r>
            <a:endParaRPr sz="3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42975" y="1979613"/>
            <a:ext cx="4572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Отдельно расскажу про </a:t>
            </a:r>
            <a:r>
              <a:rPr lang="ru-RU" b="1" dirty="0" err="1"/>
              <a:t>vPC</a:t>
            </a:r>
            <a:r>
              <a:rPr lang="ru-RU" dirty="0"/>
              <a:t>.</a:t>
            </a:r>
          </a:p>
          <a:p>
            <a:r>
              <a:rPr lang="ru-RU" dirty="0"/>
              <a:t>В задании сказано: «подключение хоста к двум коммутаторам с использованием VPC».</a:t>
            </a:r>
            <a:br>
              <a:rPr lang="ru-RU" dirty="0"/>
            </a:br>
            <a:r>
              <a:rPr lang="ru-RU" dirty="0"/>
              <a:t>Я реализовал это через </a:t>
            </a:r>
            <a:r>
              <a:rPr lang="ru-RU" b="1" dirty="0"/>
              <a:t>ESI-LAG</a:t>
            </a:r>
            <a:r>
              <a:rPr lang="ru-RU" dirty="0"/>
              <a:t> — стандартизированный EVPN </a:t>
            </a:r>
            <a:r>
              <a:rPr lang="ru-RU" dirty="0" err="1"/>
              <a:t>multi-homing</a:t>
            </a:r>
            <a:r>
              <a:rPr lang="ru-RU" dirty="0"/>
              <a:t>, описанный в RFC 7432.</a:t>
            </a:r>
          </a:p>
          <a:p>
            <a:r>
              <a:rPr lang="ru-RU" b="1" dirty="0"/>
              <a:t>Преимущества ESI-LAG:</a:t>
            </a:r>
            <a:endParaRPr lang="ru-RU" dirty="0"/>
          </a:p>
          <a:p>
            <a:r>
              <a:rPr lang="ru-RU" dirty="0"/>
              <a:t>Работает на всех </a:t>
            </a:r>
            <a:r>
              <a:rPr lang="ru-RU" dirty="0" err="1"/>
              <a:t>вендорах</a:t>
            </a:r>
            <a:r>
              <a:rPr lang="ru-RU" dirty="0"/>
              <a:t>, а не только на </a:t>
            </a:r>
            <a:r>
              <a:rPr lang="ru-RU" dirty="0" err="1"/>
              <a:t>Cisco</a:t>
            </a:r>
            <a:r>
              <a:rPr lang="ru-RU" dirty="0"/>
              <a:t>.</a:t>
            </a:r>
          </a:p>
          <a:p>
            <a:r>
              <a:rPr lang="ru-RU" dirty="0"/>
              <a:t>Не зависит от STP.</a:t>
            </a:r>
          </a:p>
          <a:p>
            <a:r>
              <a:rPr lang="ru-RU" dirty="0"/>
              <a:t>Быстрое восстановление при отказе.</a:t>
            </a:r>
          </a:p>
          <a:p>
            <a:r>
              <a:rPr lang="ru-RU" dirty="0"/>
              <a:t>Клиенты подключены так:</a:t>
            </a:r>
          </a:p>
          <a:p>
            <a:r>
              <a:rPr lang="ru-RU" dirty="0" err="1"/>
              <a:t>Client</a:t>
            </a:r>
            <a:r>
              <a:rPr lang="ru-RU" dirty="0"/>
              <a:t>-A → Leaf-01 и Leaf-02.</a:t>
            </a:r>
          </a:p>
          <a:p>
            <a:r>
              <a:rPr lang="ru-RU" dirty="0" err="1"/>
              <a:t>Client</a:t>
            </a:r>
            <a:r>
              <a:rPr lang="ru-RU" dirty="0"/>
              <a:t>-B → Leaf-02 и Leaf-03.</a:t>
            </a:r>
          </a:p>
          <a:p>
            <a:r>
              <a:rPr lang="ru-RU" dirty="0" err="1"/>
              <a:t>Client</a:t>
            </a:r>
            <a:r>
              <a:rPr lang="ru-RU" dirty="0"/>
              <a:t>-C → Leaf-01 и Leaf-03.</a:t>
            </a:r>
          </a:p>
        </p:txBody>
      </p:sp>
    </p:spTree>
    <p:extLst>
      <p:ext uri="{BB962C8B-B14F-4D97-AF65-F5344CB8AC3E}">
        <p14:creationId xmlns:p14="http://schemas.microsoft.com/office/powerpoint/2010/main" val="19134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71500" y="155100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 smtClean="0"/>
              <a:t>Что получилось</a:t>
            </a:r>
            <a:endParaRPr sz="3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42975" y="1979613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Маршрутизацию между клиентскими VRF я реализовал двумя способами.</a:t>
            </a:r>
          </a:p>
          <a:p>
            <a:endParaRPr lang="ru-RU" sz="1200" dirty="0"/>
          </a:p>
          <a:p>
            <a:r>
              <a:rPr lang="ru-RU" sz="1200" dirty="0"/>
              <a:t>Сценарий 1 — основной: через BorderLeaf-01.</a:t>
            </a:r>
          </a:p>
          <a:p>
            <a:r>
              <a:rPr lang="ru-RU" sz="1200" dirty="0"/>
              <a:t>Клиентские VRF выведены на BorderLeaf-01 через </a:t>
            </a:r>
            <a:r>
              <a:rPr lang="ru-RU" sz="1200" dirty="0" err="1"/>
              <a:t>сабинтерфейсы</a:t>
            </a:r>
            <a:r>
              <a:rPr lang="ru-RU" sz="1200" dirty="0"/>
              <a:t>.</a:t>
            </a:r>
          </a:p>
          <a:p>
            <a:r>
              <a:rPr lang="ru-RU" sz="1200" dirty="0"/>
              <a:t>BorderLeaf-01 работает в одной таблице маршрутизации и знает оба клиентских /24.</a:t>
            </a:r>
          </a:p>
          <a:p>
            <a:endParaRPr lang="ru-RU" sz="1200" dirty="0"/>
          </a:p>
          <a:p>
            <a:r>
              <a:rPr lang="ru-RU" sz="1200" dirty="0"/>
              <a:t>Сценарий 2 — альтернативный: через </a:t>
            </a:r>
            <a:r>
              <a:rPr lang="ru-RU" sz="1200" dirty="0" err="1"/>
              <a:t>Route</a:t>
            </a:r>
            <a:r>
              <a:rPr lang="ru-RU" sz="1200" dirty="0"/>
              <a:t> </a:t>
            </a:r>
            <a:r>
              <a:rPr lang="ru-RU" sz="1200" dirty="0" err="1"/>
              <a:t>Leaking</a:t>
            </a:r>
            <a:r>
              <a:rPr lang="ru-RU" sz="1200" dirty="0"/>
              <a:t>.</a:t>
            </a:r>
          </a:p>
          <a:p>
            <a:r>
              <a:rPr lang="ru-RU" sz="1200" dirty="0"/>
              <a:t>Маршрутизация между VRF идёт внутри фабрики, через BGP </a:t>
            </a:r>
            <a:r>
              <a:rPr lang="ru-RU" sz="1200" dirty="0" err="1"/>
              <a:t>Route-Target</a:t>
            </a:r>
            <a:r>
              <a:rPr lang="ru-RU" sz="1200" dirty="0"/>
              <a:t> </a:t>
            </a:r>
            <a:r>
              <a:rPr lang="ru-RU" sz="1200" dirty="0" err="1"/>
              <a:t>import</a:t>
            </a:r>
            <a:r>
              <a:rPr lang="ru-RU" sz="1200" dirty="0"/>
              <a:t>.</a:t>
            </a:r>
          </a:p>
          <a:p>
            <a:r>
              <a:rPr lang="ru-RU" sz="1200" dirty="0"/>
              <a:t>Это работает, если нет внешнего устройства.</a:t>
            </a:r>
          </a:p>
          <a:p>
            <a:endParaRPr lang="ru-RU" sz="1200" dirty="0"/>
          </a:p>
          <a:p>
            <a:r>
              <a:rPr lang="ru-RU" sz="1200" dirty="0"/>
              <a:t>Оба сценария реализованы и проверены.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62745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71500" y="155100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 smtClean="0"/>
              <a:t>Что получилось</a:t>
            </a:r>
            <a:endParaRPr sz="3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42975" y="1979613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Что показали проверки:</a:t>
            </a:r>
          </a:p>
          <a:p>
            <a:endParaRPr lang="ru-RU" sz="1200" dirty="0"/>
          </a:p>
          <a:p>
            <a:r>
              <a:rPr lang="en-US" sz="1200" dirty="0"/>
              <a:t>BGP EVPN: </a:t>
            </a:r>
            <a:r>
              <a:rPr lang="ru-RU" sz="1200" dirty="0"/>
              <a:t>все сессии в состоянии </a:t>
            </a:r>
            <a:r>
              <a:rPr lang="en-US" sz="1200" dirty="0" err="1"/>
              <a:t>Estab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Type-2: MAC-</a:t>
            </a:r>
            <a:r>
              <a:rPr lang="ru-RU" sz="1200" dirty="0"/>
              <a:t>адреса клиентов изучены.</a:t>
            </a:r>
          </a:p>
          <a:p>
            <a:endParaRPr lang="ru-RU" sz="1200" dirty="0"/>
          </a:p>
          <a:p>
            <a:r>
              <a:rPr lang="en-US" sz="1200" dirty="0"/>
              <a:t>Type-3: IMET-</a:t>
            </a:r>
            <a:r>
              <a:rPr lang="ru-RU" sz="1200" dirty="0"/>
              <a:t>маршруты от трёх </a:t>
            </a:r>
            <a:r>
              <a:rPr lang="en-US" sz="1200" dirty="0"/>
              <a:t>VTEP.</a:t>
            </a:r>
          </a:p>
          <a:p>
            <a:endParaRPr lang="en-US" sz="1200" dirty="0"/>
          </a:p>
          <a:p>
            <a:r>
              <a:rPr lang="en-US" sz="1200" dirty="0"/>
              <a:t>Type-5: </a:t>
            </a:r>
            <a:r>
              <a:rPr lang="ru-RU" sz="1200" dirty="0"/>
              <a:t>суммарный префикс 10.0.0.0/8 передан.</a:t>
            </a:r>
          </a:p>
          <a:p>
            <a:endParaRPr lang="ru-RU" sz="1200" dirty="0"/>
          </a:p>
          <a:p>
            <a:r>
              <a:rPr lang="ru-RU" sz="1200" dirty="0"/>
              <a:t>Связность: </a:t>
            </a:r>
            <a:r>
              <a:rPr lang="en-US" sz="1200" dirty="0"/>
              <a:t>ping </a:t>
            </a:r>
            <a:r>
              <a:rPr lang="ru-RU" sz="1200" dirty="0"/>
              <a:t>между всеми клиентами — 0% потерь, </a:t>
            </a:r>
            <a:r>
              <a:rPr lang="en-US" sz="1200" dirty="0"/>
              <a:t>TTL = 62.</a:t>
            </a:r>
          </a:p>
          <a:p>
            <a:endParaRPr lang="en-US" sz="1200" dirty="0"/>
          </a:p>
          <a:p>
            <a:r>
              <a:rPr lang="en-US" sz="1200" dirty="0"/>
              <a:t>Traceroute: </a:t>
            </a:r>
            <a:r>
              <a:rPr lang="ru-RU" sz="1200" dirty="0"/>
              <a:t>путь идёт через </a:t>
            </a:r>
            <a:r>
              <a:rPr lang="en-US" sz="1200" dirty="0"/>
              <a:t>BorderLeaf-01.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585117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926765641"/>
              </p:ext>
            </p:extLst>
          </p:nvPr>
        </p:nvGraphicFramePr>
        <p:xfrm>
          <a:off x="0" y="1108800"/>
          <a:ext cx="7239000" cy="3767208"/>
        </p:xfrm>
        <a:graphic>
          <a:graphicData uri="http://schemas.openxmlformats.org/drawingml/2006/table">
            <a:tbl>
              <a:tblPr>
                <a:noFill/>
                <a:tableStyleId>{43955FCD-5536-4651-B248-C2593CBFB820}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Подведу итоги.</a:t>
                      </a:r>
                    </a:p>
                    <a:p>
                      <a:r>
                        <a:rPr lang="ru-RU" sz="1400" b="1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1. Цель достигнута?</a:t>
                      </a:r>
                      <a: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Да — фабрика VXLAN EVPN работает.</a:t>
                      </a:r>
                      <a:b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ru-RU" sz="1400" b="1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2. Что далось легко?</a:t>
                      </a:r>
                      <a: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spc="0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Underlay</a:t>
                      </a:r>
                      <a: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на </a:t>
                      </a:r>
                      <a:r>
                        <a:rPr lang="ru-RU" sz="1400" b="0" i="0" u="none" strike="noStrike" cap="none" spc="0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eBGP</a:t>
                      </a:r>
                      <a: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и L2 VNI.</a:t>
                      </a:r>
                      <a:b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ru-RU" sz="1400" b="1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3. Что было сложно?</a:t>
                      </a:r>
                      <a: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Маршрутизация между VRF через BorderLeaf-01 — потребовалось несколько итераций.</a:t>
                      </a:r>
                      <a:b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ru-RU" sz="1400" b="1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4. Время проекта:</a:t>
                      </a:r>
                      <a: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три недели.</a:t>
                      </a:r>
                      <a:b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ru-RU" sz="1400" b="1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5. Полезность:</a:t>
                      </a:r>
                      <a: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9 из 10.</a:t>
                      </a:r>
                      <a:b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ru-RU" sz="1400" b="1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6. Планы:</a:t>
                      </a:r>
                      <a: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изучить EVPN </a:t>
                      </a:r>
                      <a:r>
                        <a:rPr lang="ru-RU" sz="1400" b="0" i="0" u="none" strike="noStrike" cap="none" spc="0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Multihoming</a:t>
                      </a:r>
                      <a:r>
                        <a:rPr lang="ru-RU" sz="1400" b="0" i="0" u="none" strike="noStrike" cap="none" spc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и SRv6.</a:t>
                      </a:r>
                    </a:p>
                    <a:p>
                      <a:r>
                        <a:rPr lang="ru-RU" sz="1600" dirty="0" smtClean="0"/>
                        <a:t/>
                      </a:r>
                      <a:br>
                        <a:rPr lang="ru-RU" sz="1600" dirty="0" smtClean="0"/>
                      </a:b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sz="5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596</Words>
  <Application>Microsoft Office PowerPoint</Application>
  <PresentationFormat>Экран (16:9)</PresentationFormat>
  <Paragraphs>126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Courier New</vt:lpstr>
      <vt:lpstr>Roboto Medium</vt:lpstr>
      <vt:lpstr>Roboto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   </vt:lpstr>
      <vt:lpstr>План защиты</vt:lpstr>
      <vt:lpstr>Презентация PowerPoint</vt:lpstr>
      <vt:lpstr>Какие технологии использовались </vt:lpstr>
      <vt:lpstr>Что получилось</vt:lpstr>
      <vt:lpstr>Что получилось</vt:lpstr>
      <vt:lpstr>Что получилось</vt:lpstr>
      <vt:lpstr>Что получилось</vt:lpstr>
      <vt:lpstr>Что получилось</vt:lpstr>
      <vt:lpstr>Что получилось</vt:lpstr>
      <vt:lpstr>Выводы </vt:lpstr>
      <vt:lpstr>Презентация PowerPoint</vt:lpstr>
      <vt:lpstr>Спасибо за внимание!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PC-VVP</cp:lastModifiedBy>
  <cp:revision>11</cp:revision>
  <dcterms:modified xsi:type="dcterms:W3CDTF">2026-10-12T14:21:19Z</dcterms:modified>
</cp:coreProperties>
</file>